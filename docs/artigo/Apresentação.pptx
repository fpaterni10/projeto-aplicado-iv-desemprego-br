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41907-ED63-4EC4-AA5C-DE31967E51DA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B5A2-3EBD-42E5-9C21-218E81A62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08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 a todos...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chamo Franciele e este estudo investiga a previsão da taxa de desocupação no Brasil com base em dados oficiais do CAGED, PNAD Contínua e taxa SELIC, abrangendo o período de 2012 a 2025.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objetivo central é compreender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o mercado de trabalho reage a mudanças econômicas e como esses movimentos podem ser antecipados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32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“Nesse contexto, foi definida a questão orientadora do trabalho: qual modelo apresenta maior capacidade preditiva 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interpretabilidade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estimar a taxa de desocupação? A série possui desafios relevantes, como curta extensão temporal, forte sazonalidade trimestral e choques estruturais, especialmente durante a pandemia. Também foi observada uma tensão metodológica comum: modelos econométricos oferecem clareza interpretativa, enquanto algoritmos de Machine Learning capturam padrões complexos. Essa combinação gera uma lacuna interessante para investigação.”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7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“Diante desse cenário, definiu-se como problema de pesquisa a identificação de qual abordagem preditiva é capaz de estimar a taxa de desocupação com maior robustez. A série apresenta desafios importantes, como curta extensão histórica, forte sazonalidade e choques estruturais. Além disso, existe o contraste entre modelos econométricos, que oferecem maior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interpretabilidade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métodos de Machine Learning, que capturam relações complexas, mas exigem bases maiores. Essa combinação caracteriza a motivação central do estudo.”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911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“Com isso, estabeleceu-se como objetivo geral o desenvolvimento de um pipeline reprodutível de previsão. Entre os objetivos específicos, destacam-se a integração das bases oficiais, a análise dos padrões estruturais da série, a comparação entre SARIMAX e LGBM e a validação temporal por meio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rolling-origin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assegurando robustez estatística.”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040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“Foram utilizadas três bases complementares. O CAGED permite acompanhar a dinâmica do emprego formal; a PNAD Contínua fornece a taxa de desocupação trimestral; e a SELIC representa a política monetária, possibilitando testar relações macroeconômicas. Todas as bases foram harmonizadas no calendário trimestral e normalizadas para análises comparáveis.”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00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 referencial teórico do estudo apoia-se em conceitos de séries temporais, especialmente modelos ARIMA, SARIMA e sua extensão SARIMAX, que incorpora variáveis exógenas. A literatura mostra que esses modelos são amplamente utilizados em previsões macroeconômicas pela capacidade de representar tendência, sazonalidade e ciclos. Também foram consideradas contribuições de análises baseadas em Machine Learning para comparação metodológica, embora sua eficácia dependa diretamente do tamanho e da estabilidade das séries.”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513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metodologia foi estruturada em etapas sequenciais. Iniciou-se pela coleta e integração das bases oficiais, seguida do pré-processamento e análise exploratória. Em seguida, foram definidos e ajustados os modelos SARIMAX e LGBM, aplicando validação temporal por meio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-origin. Por fim, os modelos foram avaliados com métricas como MAE, RMSE e MAPE, permitindo uma comparação consistente entre as abordagens.”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807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pré-processamento, foram realizadas etapas como limpeza de valores ausentes, suavização por média móvel, criação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dummies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sazonais, ajuste para o choque da pandemia e integração das variáveis exógenas. Essas transformações estruturaram adequadamente o conjunto de dados para condução da modelagem.”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692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análise exploratória mostrou uma sazonalidade trimestral consistente, decomposição aditiva e necessidade de diferenciação regular. Identificou-se o forte impacto estrutural de 2020 e 2021, que alterou temporariamente o padrão da série. As funções ACF e PACF auxiliaram na especificação do SARIMAX, orientando a seleção das ordens do modelo.”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936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“Na modelagem, foram avaliadas duas abordagens principais. O LGBM foi utilizado como baseline de Machine Learning, enquanto o SARIMAX capturou explicitamente a dinâmica temporal e a influência do saldo de empregos como variável exógena. Também foi conduzido um experimento adicionando a SELIC, com o objetivo de testar seu potencial ganho preditivo.”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459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“Os resultados indicaram que o SARIMAX com CAGED apresentou o melhor desempenho, atingindo um MAPE em torno de 4,65%. O modelo que incorporou a SELIC aumentou os erros e o LGBM apresentou desempenho inferior, evidenciando perda de sensibilidade a variações estruturais.”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702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“Observou-se que o SARIMAX acompanhou a trajetória da série com maior precisão, reproduzindo adequadamente movimentos sazonais e estruturais. O LGBM mostrou tendência a suavizar excessivamente e o modelo com SELIC exibiu vieses consistentes. Isso reforça o papel do CAGED como principal variável externa para previsão da taxa de desocupação.”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931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“Foi investigado por que a SELIC não contribuiu positivamente para o desempenho. Três fatores principais foram identificados: a elevada instabilidade da política monetária no período, a colinearidade com o saldo de empregos e a perda de granularidade ao converter dados mensais em informação trimestral. Esses elementos reduziram sua utilidade para previsões de curto prazo.”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58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 diagnóstico estatístico do SARIMAX confirmou a adequação da especificação. Os resíduos seguiram comportamento de ruído branco, não apresentaram autocorrelação, não exibiram heterocedasticidade significativa e os parâmetros do modelo foram estatisticamente relevantes, validando a consistência da abordagem.”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5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“Entre as limitações identificadas, destacam-se a série histórica curta, que reduz o horizonte de aprendizagem dos modelos; os choques estruturais que impactam a estabilidade temporal; a complexidade da dinâmica da SELIC; e as dificuldades naturais enfrentadas por métodos de Machine Learning em bases pequenas. Além disso, modelos macroeconômicos exigem revisão contínua conforme novos dados são disponibilizados.”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083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“Como síntese geral, o SARIMAX com CAGED demonstrou ser o modelo mais robusto e interpretável, adequado para previsões de curto prazo e útil como ferramenta de apoio em políticas públicas, especialmente em iniciativas ligadas ao ODS 8. A SELIC não apresentou contribuição significativa para melhoria do desempenho.”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81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 estudo também aponta direções promissoras para trabalhos futuros: inclusão de novas variáveis exógenas, exploração de dinâmicas não lineares, análises regionais mais detalhadas, experimentos com modelos híbridos e estabelecimento de rotinas automatizadas de atualização pós-2025.”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792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“As principais contribuições incluem um pipeline reprodutível, validação temporal rigorosa, comparação transparente entre técnicas, diagnóstico estatístico completo e geração de insumos relevantes para tomada de decisão pública e privada.”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982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B5A2-3EBD-42E5-9C21-218E81A62BD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056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BF833-D652-26E9-6CC1-D634EF0F5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1297B-BC25-A77A-EB2F-5D0968B0C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D2BB43-6A41-DAC9-96AD-A411E8E1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BF2647-82C0-B35C-027A-1078E243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01307A-82C4-4079-5C65-2AB501D8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79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21A9A-8E12-B52E-8E87-1CC0F47B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6EFE3-3CC5-6A67-C898-29D4A330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FD98C8-E9E5-D54C-2B6E-47108CB1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A5EF7E-9A08-B767-700A-59A9C03C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1509DC-2775-37BD-1B9D-07469A42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76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E3F4-9FB0-71FE-FD2E-A715A320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3AD4BE-94E1-4E37-6B8F-E42CFB0DF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11DC17-61DE-DDDF-749A-47A2EDA7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2EE002-B345-FE51-616C-2A817FF1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B20996-8C4A-BC12-5362-37B1A020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35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8004D-095F-BB7A-128F-9018AB8B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F618E-1780-4481-EE54-60E20B5CB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07FF80-10F8-A8CC-B07D-9E3BC4084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183092-E7C7-0F4B-4E1D-9AE3F5BE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446606-C137-7419-F9EC-08777319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E2894F-7655-480F-D9F9-58F6CAA9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95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501A-4A1D-7050-0855-504B8E6E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0F4AA3-C15D-5687-AEA9-EAD0BA5D0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6E6511-AFA1-23E4-35D6-466BBD757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45C903-EAB4-583C-BF5D-E28B570FB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D0F281-BB6B-82FF-5131-D533C7DF4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1C79F1-D8D4-6F7D-A4F5-B3CA561D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5FC131-071E-72AF-5A54-67AFBB76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2C2AE8-5D1C-CE53-42E9-DF7C71CF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55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7356B-6102-42AB-EB6D-D7254E46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BBF53A-04FA-CBE2-6DED-7EDA6142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D1FF66-C4CE-8B2D-E119-D271E248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63259A-5AF4-2391-C687-505C6532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75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90CD91-C0AE-0097-4530-D167196E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315893-8D23-F52C-F22A-0D8ECCB2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51A015-536B-DDD5-1AE9-8E702B5C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97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D79BA-D8AA-20E1-74AF-443393D28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AD7002-35F4-3022-07DC-0BAC7B8DD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3BED38-F4D4-AF6D-A078-C8E4A0EBE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94E130-E02F-8F44-919C-E0251CDF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9097E9-5C21-C7C9-D446-74ED9E41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B5267F-A9D3-53AA-4203-EE2ECA59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47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0DE3C-01E0-8A94-B443-DE8F7A4E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9FD3D0-E940-A42D-8C07-69E18E46B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FD11D5-A376-3F8B-FC75-198923E13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2F755F-C82C-BF8B-DD83-2E033E3A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8E8026-03CC-F877-49F6-D27554BF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59F51E-FFDA-19B4-3DE0-A1B9C4D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74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D2B45-37B3-C2F5-1E1E-9B1C1E66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AC625C-C714-ADB1-42D5-55715FF86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7E707D-A4C6-5F90-77BB-521F8E57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F90F61-CD0F-6870-C5DF-34E9CA50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52A33E-D767-DBC4-6188-8E2E9B8F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320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8D6404-164E-DFB4-5A97-C8478B278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1238BE-CDC3-9D0F-2529-698F0E824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4666F-8C13-C739-F998-F99ED240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588E2B-6B95-D23F-FB56-26509BDD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D9CF5F-4DF9-E530-C7FB-A80297F7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21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3C9943-3C83-6633-CA24-97C16D29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014316-CC73-39B1-EAA0-45400C446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FA1F84-5D05-638C-872D-169125430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703CC-AF63-4CBD-8DA2-68DDDD024A7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1B91E8-F317-1A5F-96AB-244E78938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8797B5-5B28-E1E5-1726-F2D695900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CE988-FDEE-4F10-81EE-DE6AAC06F8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78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29AA8C7-A41D-6E71-9F6A-2B21066F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" y="0"/>
            <a:ext cx="12189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0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FD1CB15-BC2A-067D-35B5-23FBEF263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33" y="0"/>
            <a:ext cx="11289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7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6901DE6-838F-0787-15C3-A3D666F8A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56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6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1EF2B2-06FA-EFCF-7A4D-582435C2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734" y="0"/>
            <a:ext cx="12257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7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E75DE92-E10F-07A7-619E-61DFE8D6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59186" cy="766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9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12F8DB8-D8BD-41F0-04B9-0504492E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0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7190B7-B46A-B7F7-30FD-4CF2DC710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4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EA0E516-BC28-2586-ED54-7352A443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59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6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71AC18D0-D0AB-61EE-BE12-1849EBC153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605DA56-2304-66A6-DD81-F55F36591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6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EF89D20-BB37-F31A-D707-4A680A8C7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9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6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D1C3434-4B22-567B-B657-228C5AF4B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908" y="0"/>
            <a:ext cx="12361322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3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3B6C76F-A8BA-7DD5-EBAF-235462B5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6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9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28C9AD-F999-4FA1-6F8A-FF075239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9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16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F5BA565-63B8-C11E-44E0-4040D5FCE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15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11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1064646-677C-0B38-9BAB-CC6EEA75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50895" cy="7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65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7073B8F-5D4B-3661-0EBB-01944D8C6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0" y="-314326"/>
            <a:ext cx="12287250" cy="791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21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C4DD53C-AD85-D045-5911-FFA3F9DE7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65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EC92C7C-B9AA-3295-6A18-6163DFA9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8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14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8350CD8-3E6E-BFF8-E410-A6DCE114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00356" cy="70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07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1FB694D-7EA4-6049-69D5-4E76E3E56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30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28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E1751733E3404F82F2ACF28518C3E0" ma:contentTypeVersion="10" ma:contentTypeDescription="Crie um novo documento." ma:contentTypeScope="" ma:versionID="5f7fb631ae40b011a519d7647d6ba098">
  <xsd:schema xmlns:xsd="http://www.w3.org/2001/XMLSchema" xmlns:xs="http://www.w3.org/2001/XMLSchema" xmlns:p="http://schemas.microsoft.com/office/2006/metadata/properties" xmlns:ns3="35af7904-37ac-4d88-926a-64f8101adf97" targetNamespace="http://schemas.microsoft.com/office/2006/metadata/properties" ma:root="true" ma:fieldsID="3d172cc03687d537a4a62f45c4534f2f" ns3:_="">
    <xsd:import namespace="35af7904-37ac-4d88-926a-64f8101adf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f7904-37ac-4d88-926a-64f8101adf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598A29-56E2-484A-8B6E-534991BD96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af7904-37ac-4d88-926a-64f8101adf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088B6F-05F1-4F93-9301-7EAFB668C0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A179D7-8B47-4137-BCA8-CB5E01531028}">
  <ds:schemaRefs>
    <ds:schemaRef ds:uri="http://purl.org/dc/terms/"/>
    <ds:schemaRef ds:uri="http://www.w3.org/XML/1998/namespace"/>
    <ds:schemaRef ds:uri="http://schemas.microsoft.com/office/2006/metadata/properties"/>
    <ds:schemaRef ds:uri="35af7904-37ac-4d88-926a-64f8101adf97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1063</Words>
  <Application>Microsoft Office PowerPoint</Application>
  <PresentationFormat>Widescreen</PresentationFormat>
  <Paragraphs>39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FRANCIELE DO NASCIMENTO PATERNI</dc:creator>
  <cp:lastModifiedBy>FRANCIELE DO NASCIMENTO PATERNI</cp:lastModifiedBy>
  <cp:revision>2</cp:revision>
  <dcterms:created xsi:type="dcterms:W3CDTF">2025-11-28T20:54:02Z</dcterms:created>
  <dcterms:modified xsi:type="dcterms:W3CDTF">2025-11-29T18:25:32Z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0x010100D0E1751733E3404F82F2ACF28518C3E0</vt:lpwstr>
  </property>
</Properties>
</file>